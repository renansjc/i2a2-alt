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BLL7ZJRvzAQtqkoNOqaN266Ko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Olá, somos o grupo Stark e apresentamos o Sistema Multi-Agente de Análise de Notas Fiscais Eletrônicas, um projeto que une IA e automação para transformar a gestão fiscal.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Hoje, empresas enfrentam grandes desafios na análise de dados fiscais: processos manuais, lentos e caros, que dificultam a tomada de decisão estratégica.</a:t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1" name="Google Shape;121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2" name="Google Shape;122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Criamos uma solução inteligente baseada em agentes de IA que compreendem perguntas em linguagem natural, executam consultas automáticas e retornam análises gerenciais de forma intuitiva — tudo dentro de um dashboard moderno e interativo.</a:t>
            </a:r>
            <a:endParaRPr/>
          </a:p>
        </p:txBody>
      </p:sp>
      <p:sp>
        <p:nvSpPr>
          <p:cNvPr id="124" name="Google Shape;124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sistema é composto por três agentes: um Coordenador, que entende a intenção do usuário; um SQL Specialist, que gera consultas precisas; e um Conversation Specialist, que entrega respostas em linguagem natural.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banco de dados segue o layout completo da NF-e, e o backend em Python se conecta a um frontend Nuxt 3 com chat integrado.</a:t>
            </a:r>
            <a:endParaRPr/>
          </a:p>
        </p:txBody>
      </p:sp>
      <p:sp>
        <p:nvSpPr>
          <p:cNvPr id="152" name="Google Shape;15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1" name="Google Shape;22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“O resultado é uma ferramenta que reduz tempo de análise em até 80%, oferece segurança total nas consultas e torna o acesso a informações fiscais acessível para qualquer gestor.”</a:t>
            </a:r>
            <a:endParaRPr/>
          </a:p>
        </p:txBody>
      </p:sp>
      <p:sp>
        <p:nvSpPr>
          <p:cNvPr id="223" name="Google Shape;22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6" name="Google Shape;236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projeto está disponível no GitHub e pronto para evoluir com novos módulos e integrações.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Somos o Grupo Stark — e acreditamos que inteligência artificial e automação são o futuro da gestão fiscal.</a:t>
            </a:r>
            <a:endParaRPr/>
          </a:p>
        </p:txBody>
      </p:sp>
      <p:sp>
        <p:nvSpPr>
          <p:cNvPr id="238" name="Google Shape;238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18.jp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8.jpg"/><Relationship Id="rId5" Type="http://schemas.openxmlformats.org/officeDocument/2006/relationships/image" Target="../media/image14.jp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7.jp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Relationship Id="rId4" Type="http://schemas.openxmlformats.org/officeDocument/2006/relationships/image" Target="../media/image6.png"/><Relationship Id="rId9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6.png"/><Relationship Id="rId5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19.jpg"/><Relationship Id="rId5" Type="http://schemas.openxmlformats.org/officeDocument/2006/relationships/image" Target="../media/image24.jp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 rot="-5400000">
            <a:off x="-358858" y="490732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flipH="1" rot="5400000">
            <a:off x="15399382" y="490732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028700" y="9053909"/>
            <a:ext cx="263267" cy="204391"/>
          </a:xfrm>
          <a:custGeom>
            <a:rect b="b" l="l" r="r" t="t"/>
            <a:pathLst>
              <a:path extrusionOk="0"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flipH="1">
            <a:off x="16996033" y="9053909"/>
            <a:ext cx="263267" cy="204391"/>
          </a:xfrm>
          <a:custGeom>
            <a:rect b="b" l="l" r="r" t="t"/>
            <a:pathLst>
              <a:path extrusionOk="0"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028700" y="1028700"/>
            <a:ext cx="1337383" cy="1157444"/>
          </a:xfrm>
          <a:custGeom>
            <a:rect b="b" l="l" r="r" t="t"/>
            <a:pathLst>
              <a:path extrusionOk="0"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 txBox="1"/>
          <p:nvPr/>
        </p:nvSpPr>
        <p:spPr>
          <a:xfrm>
            <a:off x="2835963" y="3447612"/>
            <a:ext cx="12616074" cy="31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6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6125698" y="1569322"/>
            <a:ext cx="6036604" cy="1183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MULTI-AGENTE DE ANÁLISE DE NOTAS FISCAIS ELETRÔNICAS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 flipH="1">
            <a:off x="15921917" y="1048018"/>
            <a:ext cx="1337383" cy="1157444"/>
          </a:xfrm>
          <a:custGeom>
            <a:rect b="b" l="l" r="r" t="t"/>
            <a:pathLst>
              <a:path extrusionOk="0"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1501060" y="8869886"/>
            <a:ext cx="6036604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JAQUELINY THAIS CONRADO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750336" y="8869886"/>
            <a:ext cx="6036604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RENAN NOGUEIRA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040973" y="2561885"/>
            <a:ext cx="5980010" cy="6696415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3878" r="-33878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 flipH="1" rot="10800000">
            <a:off x="14011825" y="102870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 flipH="1" rot="10800000">
            <a:off x="8317705" y="102870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8317705" y="3164205"/>
            <a:ext cx="7317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sz="100"/>
          </a:p>
        </p:txBody>
      </p:sp>
      <p:sp>
        <p:nvSpPr>
          <p:cNvPr id="116" name="Google Shape;116;p2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3185237" y="6678295"/>
            <a:ext cx="4074063" cy="1373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Impacto: 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Alto custo operacional e baixa eficiência na gestão de dados fiscais.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8317705" y="6678295"/>
            <a:ext cx="4074063" cy="2402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análise fiscal é: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Lenta e altamente manual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Dependente de profissionais especializados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Subutilizada em decisões estratégicas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12186310" y="3577565"/>
            <a:ext cx="5072990" cy="5680735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67813" r="0" t="0"/>
            </a:stretch>
          </a:blipFill>
          <a:ln>
            <a:noFill/>
          </a:ln>
        </p:spPr>
      </p:sp>
      <p:sp>
        <p:nvSpPr>
          <p:cNvPr id="129" name="Google Shape;129;p3"/>
          <p:cNvSpPr/>
          <p:nvPr/>
        </p:nvSpPr>
        <p:spPr>
          <a:xfrm>
            <a:off x="10479607" y="1028700"/>
            <a:ext cx="4243198" cy="4751533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8078" r="-95870" t="0"/>
            </a:stretch>
          </a:blipFill>
          <a:ln>
            <a:noFill/>
          </a:ln>
        </p:spPr>
      </p:sp>
      <p:sp>
        <p:nvSpPr>
          <p:cNvPr id="130" name="Google Shape;130;p3"/>
          <p:cNvSpPr/>
          <p:nvPr/>
        </p:nvSpPr>
        <p:spPr>
          <a:xfrm flipH="1" rot="5400000">
            <a:off x="9092049" y="7398382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3"/>
          <p:cNvSpPr txBox="1"/>
          <p:nvPr/>
        </p:nvSpPr>
        <p:spPr>
          <a:xfrm>
            <a:off x="1028700" y="2511725"/>
            <a:ext cx="9051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38B6FF"/>
                </a:solidFill>
              </a:rPr>
              <a:t>A</a:t>
            </a: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 SOLUÇÃO</a:t>
            </a:r>
            <a:endParaRPr sz="8700"/>
          </a:p>
        </p:txBody>
      </p:sp>
      <p:sp>
        <p:nvSpPr>
          <p:cNvPr id="132" name="Google Shape;132;p3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28700" y="5751658"/>
            <a:ext cx="6885225" cy="308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 Multi-Agente de IA que interpreta consultas em linguagem natural e gera análises automatizadas de NF-e.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Permite: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Consultar dados fiscais via chat inteligente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Visualizar insights no dashboard executivo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Automatizar o processamento de XMLs</a:t>
            </a:r>
            <a:endParaRPr/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Democratizar o acesso a informações gerenciais.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2982291" y="1028700"/>
            <a:ext cx="4258605" cy="4768786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034" r="-34035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8502114" y="1028700"/>
            <a:ext cx="4258605" cy="4768786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5180" r="-32889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040973" y="2293999"/>
            <a:ext cx="5248500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PÚBLICOALVO</a:t>
            </a:r>
            <a:endParaRPr sz="8700"/>
          </a:p>
        </p:txBody>
      </p:sp>
      <p:sp>
        <p:nvSpPr>
          <p:cNvPr id="142" name="Google Shape;142;p4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022898" y="6949732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CEOs 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5226322" y="6949732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CFOs 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9429746" y="6949732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COOs 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13633170" y="6949732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DIRETORES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156" name="Google Shape;156;p5"/>
          <p:cNvSpPr/>
          <p:nvPr/>
        </p:nvSpPr>
        <p:spPr>
          <a:xfrm flipH="1" rot="10800000">
            <a:off x="8661676" y="878594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5"/>
          <p:cNvGrpSpPr/>
          <p:nvPr/>
        </p:nvGrpSpPr>
        <p:grpSpPr>
          <a:xfrm>
            <a:off x="3211137" y="4841582"/>
            <a:ext cx="14148553" cy="3734193"/>
            <a:chOff x="0" y="-38100"/>
            <a:chExt cx="3726368" cy="983491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3726368" cy="945391"/>
            </a:xfrm>
            <a:custGeom>
              <a:rect b="b" l="l" r="r" t="t"/>
              <a:pathLst>
                <a:path extrusionOk="0" h="945391" w="3726368">
                  <a:moveTo>
                    <a:pt x="27907" y="0"/>
                  </a:moveTo>
                  <a:lnTo>
                    <a:pt x="3698461" y="0"/>
                  </a:lnTo>
                  <a:cubicBezTo>
                    <a:pt x="3713874" y="0"/>
                    <a:pt x="3726368" y="12494"/>
                    <a:pt x="3726368" y="27907"/>
                  </a:cubicBezTo>
                  <a:lnTo>
                    <a:pt x="3726368" y="917485"/>
                  </a:lnTo>
                  <a:cubicBezTo>
                    <a:pt x="3726368" y="932897"/>
                    <a:pt x="3713874" y="945391"/>
                    <a:pt x="3698461" y="945391"/>
                  </a:cubicBezTo>
                  <a:lnTo>
                    <a:pt x="27907" y="945391"/>
                  </a:lnTo>
                  <a:cubicBezTo>
                    <a:pt x="20505" y="945391"/>
                    <a:pt x="13407" y="942451"/>
                    <a:pt x="8174" y="937218"/>
                  </a:cubicBezTo>
                  <a:cubicBezTo>
                    <a:pt x="2940" y="931984"/>
                    <a:pt x="0" y="924886"/>
                    <a:pt x="0" y="917485"/>
                  </a:cubicBezTo>
                  <a:lnTo>
                    <a:pt x="0" y="27907"/>
                  </a:lnTo>
                  <a:cubicBezTo>
                    <a:pt x="0" y="12494"/>
                    <a:pt x="12494" y="0"/>
                    <a:pt x="27907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cap="rnd" cmpd="sng" w="28575">
              <a:solidFill>
                <a:srgbClr val="38B6FF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0" y="-38100"/>
              <a:ext cx="3726368" cy="983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3918923" y="5963177"/>
            <a:ext cx="1635663" cy="1635663"/>
            <a:chOff x="0" y="0"/>
            <a:chExt cx="812800" cy="812800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5"/>
          <p:cNvGrpSpPr/>
          <p:nvPr/>
        </p:nvGrpSpPr>
        <p:grpSpPr>
          <a:xfrm>
            <a:off x="9467582" y="5963177"/>
            <a:ext cx="1635663" cy="1635663"/>
            <a:chOff x="0" y="0"/>
            <a:chExt cx="812800" cy="812800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6693253" y="5963177"/>
            <a:ext cx="1635663" cy="1635663"/>
            <a:chOff x="0" y="0"/>
            <a:chExt cx="812800" cy="812800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12246245" y="5963177"/>
            <a:ext cx="1635663" cy="1635663"/>
            <a:chOff x="0" y="0"/>
            <a:chExt cx="812800" cy="812800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5"/>
          <p:cNvGrpSpPr/>
          <p:nvPr/>
        </p:nvGrpSpPr>
        <p:grpSpPr>
          <a:xfrm>
            <a:off x="15024908" y="5963177"/>
            <a:ext cx="1635663" cy="1635663"/>
            <a:chOff x="0" y="0"/>
            <a:chExt cx="812800" cy="812800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5"/>
          <p:cNvSpPr/>
          <p:nvPr/>
        </p:nvSpPr>
        <p:spPr>
          <a:xfrm>
            <a:off x="4282148" y="6326402"/>
            <a:ext cx="909212" cy="909212"/>
          </a:xfrm>
          <a:custGeom>
            <a:rect b="b" l="l" r="r" t="t"/>
            <a:pathLst>
              <a:path extrusionOk="0" h="909212" w="909212">
                <a:moveTo>
                  <a:pt x="0" y="0"/>
                </a:moveTo>
                <a:lnTo>
                  <a:pt x="909213" y="0"/>
                </a:lnTo>
                <a:lnTo>
                  <a:pt x="909213" y="909213"/>
                </a:lnTo>
                <a:lnTo>
                  <a:pt x="0" y="909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5"/>
          <p:cNvSpPr/>
          <p:nvPr/>
        </p:nvSpPr>
        <p:spPr>
          <a:xfrm>
            <a:off x="7107691" y="6326402"/>
            <a:ext cx="929492" cy="909212"/>
          </a:xfrm>
          <a:custGeom>
            <a:rect b="b" l="l" r="r" t="t"/>
            <a:pathLst>
              <a:path extrusionOk="0" h="909212" w="929492">
                <a:moveTo>
                  <a:pt x="0" y="0"/>
                </a:moveTo>
                <a:lnTo>
                  <a:pt x="929492" y="0"/>
                </a:lnTo>
                <a:lnTo>
                  <a:pt x="929492" y="909213"/>
                </a:lnTo>
                <a:lnTo>
                  <a:pt x="0" y="909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5"/>
          <p:cNvSpPr/>
          <p:nvPr/>
        </p:nvSpPr>
        <p:spPr>
          <a:xfrm>
            <a:off x="9824154" y="6326402"/>
            <a:ext cx="922519" cy="874498"/>
          </a:xfrm>
          <a:custGeom>
            <a:rect b="b" l="l" r="r" t="t"/>
            <a:pathLst>
              <a:path extrusionOk="0" h="874498" w="922519">
                <a:moveTo>
                  <a:pt x="0" y="0"/>
                </a:moveTo>
                <a:lnTo>
                  <a:pt x="922519" y="0"/>
                </a:lnTo>
                <a:lnTo>
                  <a:pt x="922519" y="874498"/>
                </a:lnTo>
                <a:lnTo>
                  <a:pt x="0" y="874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12563971" y="6345462"/>
            <a:ext cx="1000211" cy="871093"/>
          </a:xfrm>
          <a:custGeom>
            <a:rect b="b" l="l" r="r" t="t"/>
            <a:pathLst>
              <a:path extrusionOk="0" h="871093" w="1000211">
                <a:moveTo>
                  <a:pt x="0" y="0"/>
                </a:moveTo>
                <a:lnTo>
                  <a:pt x="1000211" y="0"/>
                </a:lnTo>
                <a:lnTo>
                  <a:pt x="1000211" y="871093"/>
                </a:lnTo>
                <a:lnTo>
                  <a:pt x="0" y="8710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5"/>
          <p:cNvSpPr/>
          <p:nvPr/>
        </p:nvSpPr>
        <p:spPr>
          <a:xfrm flipH="1" rot="10800000">
            <a:off x="15410519" y="6345462"/>
            <a:ext cx="864441" cy="905605"/>
          </a:xfrm>
          <a:custGeom>
            <a:rect b="b" l="l" r="r" t="t"/>
            <a:pathLst>
              <a:path extrusionOk="0" h="905605" w="864441">
                <a:moveTo>
                  <a:pt x="864441" y="0"/>
                </a:moveTo>
                <a:lnTo>
                  <a:pt x="0" y="0"/>
                </a:lnTo>
                <a:lnTo>
                  <a:pt x="0" y="905605"/>
                </a:lnTo>
                <a:lnTo>
                  <a:pt x="864441" y="905605"/>
                </a:lnTo>
                <a:lnTo>
                  <a:pt x="864441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5"/>
          <p:cNvSpPr txBox="1"/>
          <p:nvPr/>
        </p:nvSpPr>
        <p:spPr>
          <a:xfrm>
            <a:off x="8899075" y="1755640"/>
            <a:ext cx="391960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(FastAPI + CrewAI)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911348" y="974350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5907315" y="3612738"/>
            <a:ext cx="3919603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RAG (ChromaDB + sentence-transformers)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5919587" y="2831447"/>
            <a:ext cx="4125516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MEMÓRIA CONTEXTUAL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0858877" y="3612738"/>
            <a:ext cx="391960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GPT-4o-mini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10871150" y="2831447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IA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 rot="-5400000">
            <a:off x="-2853868" y="4473901"/>
            <a:ext cx="8229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ARQUITETURA </a:t>
            </a:r>
            <a:endParaRPr sz="8700"/>
          </a:p>
        </p:txBody>
      </p:sp>
      <p:sp>
        <p:nvSpPr>
          <p:cNvPr id="187" name="Google Shape;187;p5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3947513" y="1755640"/>
            <a:ext cx="391960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Nuxt 3 + Vue 3 + Tailwind CSS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3959786" y="974350"/>
            <a:ext cx="2004709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13849996" y="1753040"/>
            <a:ext cx="283487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Supabase / PostgreSQL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13862269" y="971750"/>
            <a:ext cx="2822600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7783868" y="5209259"/>
            <a:ext cx="5003091" cy="522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FLUXO DE PROCESSAMENTO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3947513" y="7856015"/>
            <a:ext cx="157848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Usuário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6721843" y="7856015"/>
            <a:ext cx="157848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Coordenador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9301702" y="7856015"/>
            <a:ext cx="196742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Specialist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12274835" y="7684565"/>
            <a:ext cx="1578483" cy="68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Conversation Specialist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15053438" y="7856015"/>
            <a:ext cx="157848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Resposta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203" name="Google Shape;203;p6"/>
          <p:cNvSpPr/>
          <p:nvPr/>
        </p:nvSpPr>
        <p:spPr>
          <a:xfrm>
            <a:off x="1040973" y="2297488"/>
            <a:ext cx="4167313" cy="4666557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1226" r="-20508" t="0"/>
            </a:stretch>
          </a:blipFill>
          <a:ln>
            <a:noFill/>
          </a:ln>
        </p:spPr>
      </p:sp>
      <p:sp>
        <p:nvSpPr>
          <p:cNvPr id="204" name="Google Shape;204;p6"/>
          <p:cNvSpPr/>
          <p:nvPr/>
        </p:nvSpPr>
        <p:spPr>
          <a:xfrm>
            <a:off x="2835963" y="5138600"/>
            <a:ext cx="3678960" cy="4119700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61572" r="-61572" t="0"/>
            </a:stretch>
          </a:blipFill>
          <a:ln>
            <a:noFill/>
          </a:ln>
        </p:spPr>
      </p:sp>
      <p:sp>
        <p:nvSpPr>
          <p:cNvPr id="205" name="Google Shape;205;p6"/>
          <p:cNvSpPr/>
          <p:nvPr/>
        </p:nvSpPr>
        <p:spPr>
          <a:xfrm flipH="1" rot="10800000">
            <a:off x="8827421" y="7638812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6"/>
          <p:cNvSpPr txBox="1"/>
          <p:nvPr/>
        </p:nvSpPr>
        <p:spPr>
          <a:xfrm>
            <a:off x="6929226" y="610125"/>
            <a:ext cx="10330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FUNCIONALIDADES </a:t>
            </a:r>
            <a:endParaRPr sz="8500"/>
          </a:p>
        </p:txBody>
      </p:sp>
      <p:sp>
        <p:nvSpPr>
          <p:cNvPr id="207" name="Google Shape;207;p6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8827421" y="3705723"/>
            <a:ext cx="5918525" cy="3430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Consultas em linguagem natural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 executivo em tempo real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e processamento automático de NF-e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e visualização completa das notas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Segurança e compliance em todas as camadas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214" name="Google Shape;214;p7"/>
          <p:cNvSpPr/>
          <p:nvPr/>
        </p:nvSpPr>
        <p:spPr>
          <a:xfrm flipH="1" rot="10800000">
            <a:off x="1028700" y="5896105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5" name="Google Shape;2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2671" y="363084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040973" y="8243006"/>
            <a:ext cx="6592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sz="8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14147568" y="1028700"/>
            <a:ext cx="3111732" cy="3484517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3878" r="-33878" t="0"/>
            </a:stretch>
          </a:blip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10767800" y="1209980"/>
            <a:ext cx="3111732" cy="3484517"/>
          </a:xfrm>
          <a:custGeom>
            <a:rect b="b" l="l" r="r" t="t"/>
            <a:pathLst>
              <a:path extrusionOk="0" h="7110730" w="6350000">
                <a:moveTo>
                  <a:pt x="6350000" y="4700270"/>
                </a:moveTo>
                <a:lnTo>
                  <a:pt x="0" y="7110730"/>
                </a:lnTo>
                <a:lnTo>
                  <a:pt x="0" y="2410460"/>
                </a:lnTo>
                <a:lnTo>
                  <a:pt x="63500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034" r="-34035" t="0"/>
            </a:stretch>
          </a:blipFill>
          <a:ln>
            <a:noFill/>
          </a:ln>
        </p:spPr>
      </p:sp>
      <p:sp>
        <p:nvSpPr>
          <p:cNvPr id="229" name="Google Shape;229;p8"/>
          <p:cNvSpPr/>
          <p:nvPr/>
        </p:nvSpPr>
        <p:spPr>
          <a:xfrm flipH="1" rot="5400000">
            <a:off x="15399382" y="7398382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8"/>
          <p:cNvSpPr txBox="1"/>
          <p:nvPr/>
        </p:nvSpPr>
        <p:spPr>
          <a:xfrm>
            <a:off x="1040973" y="1384060"/>
            <a:ext cx="8770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VALOR GERADO</a:t>
            </a:r>
            <a:endParaRPr sz="8700"/>
          </a:p>
        </p:txBody>
      </p:sp>
      <p:sp>
        <p:nvSpPr>
          <p:cNvPr id="231" name="Google Shape;231;p8"/>
          <p:cNvSpPr txBox="1"/>
          <p:nvPr/>
        </p:nvSpPr>
        <p:spPr>
          <a:xfrm>
            <a:off x="1040973" y="990600"/>
            <a:ext cx="1794990" cy="384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1028700" y="5114925"/>
            <a:ext cx="7664175" cy="2402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Redução de tempo de análise em até 80%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Eliminação de dependência técnica para consultas SQL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Tomada de decisão fiscal mais ágil e confiável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6695" lvl="1" marL="45339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Interface acessível e intuitiva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500" r="-12500" t="0"/>
            </a:stretch>
          </a:blipFill>
          <a:ln>
            <a:noFill/>
          </a:ln>
        </p:spPr>
      </p:sp>
      <p:sp>
        <p:nvSpPr>
          <p:cNvPr id="242" name="Google Shape;242;p9"/>
          <p:cNvSpPr/>
          <p:nvPr/>
        </p:nvSpPr>
        <p:spPr>
          <a:xfrm rot="-5400000">
            <a:off x="-358858" y="490732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9"/>
          <p:cNvSpPr/>
          <p:nvPr/>
        </p:nvSpPr>
        <p:spPr>
          <a:xfrm flipH="1" rot="5400000">
            <a:off x="15399382" y="4907320"/>
            <a:ext cx="3247475" cy="472360"/>
          </a:xfrm>
          <a:custGeom>
            <a:rect b="b" l="l" r="r" t="t"/>
            <a:pathLst>
              <a:path extrusionOk="0"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9"/>
          <p:cNvSpPr/>
          <p:nvPr/>
        </p:nvSpPr>
        <p:spPr>
          <a:xfrm rot="10800000">
            <a:off x="15921917" y="8100856"/>
            <a:ext cx="1337383" cy="1157444"/>
          </a:xfrm>
          <a:custGeom>
            <a:rect b="b" l="l" r="r" t="t"/>
            <a:pathLst>
              <a:path extrusionOk="0"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 flipH="1" rot="10800000">
            <a:off x="1028700" y="8081538"/>
            <a:ext cx="1337383" cy="1157444"/>
          </a:xfrm>
          <a:custGeom>
            <a:rect b="b" l="l" r="r" t="t"/>
            <a:pathLst>
              <a:path extrusionOk="0"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 rot="10800000">
            <a:off x="16996033" y="1028700"/>
            <a:ext cx="263267" cy="204391"/>
          </a:xfrm>
          <a:custGeom>
            <a:rect b="b" l="l" r="r" t="t"/>
            <a:pathLst>
              <a:path extrusionOk="0"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9"/>
          <p:cNvSpPr/>
          <p:nvPr/>
        </p:nvSpPr>
        <p:spPr>
          <a:xfrm flipH="1" rot="10800000">
            <a:off x="1028700" y="1028700"/>
            <a:ext cx="263267" cy="204391"/>
          </a:xfrm>
          <a:custGeom>
            <a:rect b="b" l="l" r="r" t="t"/>
            <a:pathLst>
              <a:path extrusionOk="0"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9"/>
          <p:cNvSpPr txBox="1"/>
          <p:nvPr/>
        </p:nvSpPr>
        <p:spPr>
          <a:xfrm>
            <a:off x="2835963" y="3447612"/>
            <a:ext cx="12616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OBRIGADA</a:t>
            </a:r>
            <a:endParaRPr sz="8700"/>
          </a:p>
        </p:txBody>
      </p:sp>
      <p:sp>
        <p:nvSpPr>
          <p:cNvPr id="249" name="Google Shape;249;p9"/>
          <p:cNvSpPr txBox="1"/>
          <p:nvPr/>
        </p:nvSpPr>
        <p:spPr>
          <a:xfrm>
            <a:off x="8246505" y="1415805"/>
            <a:ext cx="1794990" cy="383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STARK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2059341" y="8869886"/>
            <a:ext cx="6036604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JAQUELINY THAIS CONRADO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10163479" y="8869886"/>
            <a:ext cx="6036604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RENAN NOGUEIRA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